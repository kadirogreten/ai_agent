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2"/>
  </p:normalViewPr>
  <p:slideViewPr>
    <p:cSldViewPr snapToGrid="0" snapToObjects="1">
      <p:cViewPr varScale="1">
        <p:scale>
          <a:sx n="106" d="100"/>
          <a:sy n="106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9C96"/>
                </a:solidFill>
                <a:latin typeface="Calibri"/>
              </a:rPr>
              <a:t>AGENTARMY  ·  KURUMSAL YAPAY ZEKA AJAN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2232"/>
                </a:solidFill>
                <a:latin typeface="Calibri"/>
              </a:rPr>
              <a:t>Sizin Yerinize Çalışan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2232"/>
                </a:solidFill>
                <a:latin typeface="Calibri"/>
              </a:rPr>
              <a:t>Yapay Zeka Ajan Ordusu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76478"/>
                </a:solidFill>
                <a:latin typeface="Calibri"/>
              </a:rPr>
              <a:t>Soru-cevap değil, görev → çıktı. Kanıt, izlenebilirlik ve kontrol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76478"/>
                </a:solidFill>
                <a:latin typeface="Calibri"/>
              </a:rPr>
              <a:t>varsayılan olarak gelir. Çoklu ajan ekipleriyle paralel üretim.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19379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62232"/>
                </a:solidFill>
                <a:latin typeface="Calibri"/>
              </a:rPr>
              <a:t>Çoklu Ajan Orkestrasyonu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519379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62232"/>
                </a:solidFill>
                <a:latin typeface="Calibri"/>
              </a:rPr>
              <a:t>Kalite Kapıları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519379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62232"/>
                </a:solidFill>
                <a:latin typeface="Calibri"/>
              </a:rPr>
              <a:t>Risk &amp; Onay Yönetimi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44584" y="519379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62232"/>
                </a:solidFill>
                <a:latin typeface="Calibri"/>
              </a:rPr>
              <a:t>Web Tabanlı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Müşteri Sunumu  ·  Gizli ve Özeldir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NEDEN ŞIMDI?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Şirketler Bilgi İşinde Boğuluyor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Zamana yenik düşüyor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Pazar araştırması, rapor ve analiz manuel; günler sürüyor, ekip kapasitesi tıkanıyor.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Kalite tutarsız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Her çıktı kişiye bağlı; kaynaksız iddialar, çelişkiler ve format kaymaları oluşuyor.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507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İzlenemiyor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Çıktı nasıl üretildi, hangi kaynaktan geldi belli değil; denetim ve güven zor.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0507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531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Genel AI araçları riskli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Kontrolsuz otomasyon, maliyet patlaması ve yönetişim eksikliği kurumsal kullanımı zorlaştırıyor.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AgentArmy: Çoklu Ajan Üretim 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Bir hedef verirsiniz — CEO ajan işi parçalar, uzman ajanlar paralel çalışır,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kalite kapılarından geçen kaynaklı çıktıyı size sunar.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3183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183" y="306324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FA855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183" y="3703320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Hedef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183" y="411480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Doğal dille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isтеğinizi yazın</a:t>
            </a:r>
          </a:p>
        </p:txBody>
      </p:sp>
      <p:sp>
        <p:nvSpPr>
          <p:cNvPr id="11" name="Chevron 10"/>
          <p:cNvSpPr/>
          <p:nvPr/>
        </p:nvSpPr>
        <p:spPr>
          <a:xfrm>
            <a:off x="2758287" y="3547872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41167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1167" y="306324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FA855"/>
                </a:solidFill>
                <a:latin typeface="Calibri"/>
              </a:rPr>
              <a:t>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1167" y="3703320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CEO Ajan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1167" y="411480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Görevi parçalar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ve dağıtır</a:t>
            </a:r>
          </a:p>
        </p:txBody>
      </p:sp>
      <p:sp>
        <p:nvSpPr>
          <p:cNvPr id="16" name="Chevron 15"/>
          <p:cNvSpPr/>
          <p:nvPr/>
        </p:nvSpPr>
        <p:spPr>
          <a:xfrm>
            <a:off x="4916271" y="3547872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99151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99151" y="306324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FA855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9151" y="3703320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Ajan Ordusu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9151" y="411480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Araştır · Analiz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Yaz · Denetle</a:t>
            </a:r>
          </a:p>
        </p:txBody>
      </p:sp>
      <p:sp>
        <p:nvSpPr>
          <p:cNvPr id="21" name="Chevron 20"/>
          <p:cNvSpPr/>
          <p:nvPr/>
        </p:nvSpPr>
        <p:spPr>
          <a:xfrm>
            <a:off x="7074255" y="3547872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57135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57135" y="306324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FA855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7135" y="3703320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Kalite Kapıları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7135" y="411480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QG1–QG5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denetimi</a:t>
            </a:r>
          </a:p>
        </p:txBody>
      </p:sp>
      <p:sp>
        <p:nvSpPr>
          <p:cNvPr id="26" name="Chevron 25"/>
          <p:cNvSpPr/>
          <p:nvPr/>
        </p:nvSpPr>
        <p:spPr>
          <a:xfrm>
            <a:off x="9232239" y="3547872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15119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5119" y="306324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2FA855"/>
                </a:solidFill>
                <a:latin typeface="Calibri"/>
              </a:rP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5119" y="3703320"/>
            <a:ext cx="1993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Çıktı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5119" y="4114800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Kaynaklı,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güvenilir rapor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Sonuç: “Hızlı ama dağınık” değil — süreç + kalite ile üretim sistemi.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Özerklik artar, riskler izin matrisi ve onay kapılarıyla kontrol altında kalır.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Dört Katmanlı, Ölçeklenebilir Tasarım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728" cy="960120"/>
          </a:xfrm>
          <a:prstGeom prst="roundRect">
            <a:avLst/>
          </a:prstGeom>
          <a:solidFill>
            <a:srgbClr val="E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01  Yönetişim Katmanı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76478"/>
                </a:solidFill>
                <a:latin typeface="Calibri"/>
              </a:rPr>
              <a:t>İzinler, onay akışları, denetim logu, maliyet defteri, geri alma.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44368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944368"/>
            <a:ext cx="109728" cy="96012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02  Orkestrasyon Katmanı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76478"/>
                </a:solidFill>
                <a:latin typeface="Calibri"/>
              </a:rPr>
              <a:t>CEO ajan görevi parçalar, paralel yürütür, çatışmaları çözer.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59936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059936"/>
            <a:ext cx="109728" cy="960120"/>
          </a:xfrm>
          <a:prstGeom prst="roundRect">
            <a:avLst/>
          </a:prstGeom>
          <a:solidFill>
            <a:srgbClr val="2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03  Ajan Katmanı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0857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76478"/>
                </a:solidFill>
                <a:latin typeface="Calibri"/>
              </a:rPr>
              <a:t>Rol + araçlar + bellek + çalışma döngüsü (planla→üret→kontrol→düzelt).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75504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175504"/>
            <a:ext cx="109728" cy="960120"/>
          </a:xfrm>
          <a:prstGeom prst="roundRect">
            <a:avLst/>
          </a:prstGeom>
          <a:solidFill>
            <a:srgbClr val="B0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321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04  Zeka Katmanı (LLM)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2414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76478"/>
                </a:solidFill>
                <a:latin typeface="Calibri"/>
              </a:rPr>
              <a:t>OpenAI GPT-4.1 / GPT-5, web_search ile kaynaklı grounding.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C96"/>
                </a:solidFill>
                <a:latin typeface="Calibri"/>
              </a:rPr>
              <a:t>Tek Gerçek Kaynağı (Single Source of Truth): Facts · Decisions · Work depoları tüm ajanlarca paylaşılır.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AJAN ORDUSU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Uzman Roller, Net Sorumluluklar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Araştırmacı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Kaynak tarar, alıntı ve link çıkarır, güven puanı verir.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Analist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İddiaları test eder, tutarlılık ve sayı kontrolü yapar.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19933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9572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Yazar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Nihai raporu kurar; yapı, akış ve argüman üretir.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330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Editör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Dil, ton, okunabilirlik ve format standardı.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5661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7307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1330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Denetçi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Kaynak doğrular, çelişki yakalar, risk etiketler.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5661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7307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1330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Operatör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Araç çağırır: satın alma, stok, kargo, dosya, web.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Opsiyonel uzmanlar: Contrarian (karşı görüş), Cost/Time Planner, Policy/Privacy.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Persona ajanları (PM, Finans, Pazar Araştırmacısı...) bu çekirdeği koordine eder.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ÜRÜN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Web Portal — Tek Ekrandan Yönetim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CEO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Başarı oranı, çalışma ve iş metrikleri, rapor indirme.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28800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1993392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39572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CEO Sihirbazı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8892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Hedef yaz, otomatik plan + soru-cevap, onayla çalıştır.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828800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93392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9572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Maliyet Defteri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78892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Token/ücret takibi, iş başına maliyet görünürlüğü.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828800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17736" y="1993392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39572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Onay Kuyruğu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788920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Yüksek riskli adımlar için insan onayı + geri alma.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13631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15967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Denetim Logu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09159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Her eylemin izlenebilir kaydı, tam şeffaflık.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3749039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85032" y="3913631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4315967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Bilgi Tabanı (Facts)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4709159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Kaynaklı, yeniden kullanılabilir kalıcı hafıza.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3749039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3913631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4315967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Domain Pack &amp;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709159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Sektöre özel ajan, araç ve iş akışı paketleri.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9136" y="3749039"/>
            <a:ext cx="267004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17736" y="3913631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4315967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232"/>
                </a:solidFill>
                <a:latin typeface="Calibri"/>
              </a:rPr>
              <a:t>Zamanlanmış İşler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4709159"/>
            <a:ext cx="22128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Cron tabanlı otomatik çalıştırma (ör. haftalık brief).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2731F"/>
                </a:solidFill>
                <a:latin typeface="Calibri"/>
              </a:rPr>
              <a:t>KURUMSAL GÜVEN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Kontrollü Özerklik: Risk &amp; Kalite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Risk &amp; İzin Matrisi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777240" cy="502920"/>
          </a:xfrm>
          <a:prstGeom prst="roundRect">
            <a:avLst/>
          </a:prstGeom>
          <a:solidFill>
            <a:srgbClr val="2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1576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2"/>
                </a:solidFill>
                <a:latin typeface="Calibri"/>
              </a:rPr>
              <a:t>Zararsız — tam otomatik, sadece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47288"/>
            <a:ext cx="777240" cy="50292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3872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5701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2"/>
                </a:solidFill>
                <a:latin typeface="Calibri"/>
              </a:rPr>
              <a:t>Düşük — otomatik + QG1–QG4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88536"/>
            <a:ext cx="777240" cy="502920"/>
          </a:xfrm>
          <a:prstGeom prst="roundRect">
            <a:avLst/>
          </a:prstGeom>
          <a:solidFill>
            <a:srgbClr val="E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7997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9826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2"/>
                </a:solidFill>
                <a:latin typeface="Calibri"/>
              </a:rPr>
              <a:t>Orta — denetçi onayı + gerekçe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29784"/>
            <a:ext cx="777240" cy="502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22122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3951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2"/>
                </a:solidFill>
                <a:latin typeface="Calibri"/>
              </a:rPr>
              <a:t>Yüksek — insan onayı + geri alma planı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Kalite Kapıları (Quality Gates)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855"/>
                </a:solidFill>
                <a:latin typeface="Calibri"/>
              </a:rPr>
              <a:t>QG1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060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Yapı / Kapsam — doğru format, kapsam dışına çıkmama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6440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855"/>
                </a:solidFill>
                <a:latin typeface="Calibri"/>
              </a:rPr>
              <a:t>QG2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26440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Kanıt / Kaynak — kritik iddiaların kaynağı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2277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855"/>
                </a:solidFill>
                <a:latin typeface="Calibri"/>
              </a:rPr>
              <a:t>QG3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22776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Tutarlılık — iç çelişki ve sayı kontrolü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8114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855"/>
                </a:solidFill>
                <a:latin typeface="Calibri"/>
              </a:rPr>
              <a:t>QG4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58114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Risk Etiketleme — belirsizliklerin işaretlenmesi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395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855"/>
                </a:solidFill>
                <a:latin typeface="Calibri"/>
              </a:rPr>
              <a:t>QG5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2395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İletişim — ton, açıklık, hedef kitle uygunluğu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KULLANIM ALANLARI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Hangi İşleri Devralır?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Pazar Zekası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Rakip analizi, trend radarı, fiyat karşılaştırma, haftalık brief, pazar boyutlandırma.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Ürün &amp; Strateji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PRD taslağı, build-vs-buy, karar notu, yol haritası girdileri.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507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Teknik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Teknik tasarım dokümanı, PoC planı, mimari trade-off analizi.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0507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531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Operasyon &amp; Tedarik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93776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Stok kontrolü, satın alma siparişi, kargo takibi (araç entegrasyonları).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FARKIMIZ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Genel AI Araçlarından Ne Farkı Var?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76478"/>
                </a:solidFill>
                <a:latin typeface="Calibri"/>
              </a:rPr>
              <a:t>Genel AI Sohbet Araçları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4632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 </a:t>
            </a:r>
            <a:r>
              <a:rPr sz="1400" b="0">
                <a:solidFill>
                  <a:srgbClr val="576478"/>
                </a:solidFill>
                <a:latin typeface="Calibri"/>
              </a:rPr>
              <a:t>Tek model, tek bakış açısı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 </a:t>
            </a:r>
            <a:r>
              <a:rPr sz="1400" b="0">
                <a:solidFill>
                  <a:srgbClr val="576478"/>
                </a:solidFill>
                <a:latin typeface="Calibri"/>
              </a:rPr>
              <a:t>Çıktı kaynaksız, doğrulanmamış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 </a:t>
            </a:r>
            <a:r>
              <a:rPr sz="1400" b="0">
                <a:solidFill>
                  <a:srgbClr val="576478"/>
                </a:solidFill>
                <a:latin typeface="Calibri"/>
              </a:rPr>
              <a:t>Denetim ve izlenebilirlik yok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 </a:t>
            </a:r>
            <a:r>
              <a:rPr sz="1400" b="0">
                <a:solidFill>
                  <a:srgbClr val="576478"/>
                </a:solidFill>
                <a:latin typeface="Calibri"/>
              </a:rPr>
              <a:t>Maliyet kontrolü sınırlı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 </a:t>
            </a:r>
            <a:r>
              <a:rPr sz="1400" b="0">
                <a:solidFill>
                  <a:srgbClr val="576478"/>
                </a:solidFill>
                <a:latin typeface="Calibri"/>
              </a:rPr>
              <a:t>Kurumsal yönetişim eksik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 </a:t>
            </a:r>
            <a:r>
              <a:rPr sz="1400" b="0">
                <a:solidFill>
                  <a:srgbClr val="576478"/>
                </a:solidFill>
                <a:latin typeface="Calibri"/>
              </a:rPr>
              <a:t>Her seferinde sıfırdan başlar (hafıza yok)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A855"/>
                </a:solidFill>
                <a:latin typeface="Calibri"/>
              </a:rPr>
              <a:t>AgentArmy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60320"/>
            <a:ext cx="484632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FA855"/>
                </a:solidFill>
                <a:latin typeface="Calibri"/>
              </a:rPr>
              <a:t>▸  </a:t>
            </a:r>
            <a:r>
              <a:rPr sz="1400" b="0">
                <a:solidFill>
                  <a:srgbClr val="162232"/>
                </a:solidFill>
                <a:latin typeface="Calibri"/>
              </a:rPr>
              <a:t>Çoklu uzman ajan + CEO orkestrasyonu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FA855"/>
                </a:solidFill>
                <a:latin typeface="Calibri"/>
              </a:rPr>
              <a:t>▸  </a:t>
            </a:r>
            <a:r>
              <a:rPr sz="1400" b="0">
                <a:solidFill>
                  <a:srgbClr val="162232"/>
                </a:solidFill>
                <a:latin typeface="Calibri"/>
              </a:rPr>
              <a:t>Kaynaklı, web_search ile doğrulanmış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FA855"/>
                </a:solidFill>
                <a:latin typeface="Calibri"/>
              </a:rPr>
              <a:t>▸  </a:t>
            </a:r>
            <a:r>
              <a:rPr sz="1400" b="0">
                <a:solidFill>
                  <a:srgbClr val="162232"/>
                </a:solidFill>
                <a:latin typeface="Calibri"/>
              </a:rPr>
              <a:t>Tam denetim logu + audit izi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FA855"/>
                </a:solidFill>
                <a:latin typeface="Calibri"/>
              </a:rPr>
              <a:t>▸  </a:t>
            </a:r>
            <a:r>
              <a:rPr sz="1400" b="0">
                <a:solidFill>
                  <a:srgbClr val="162232"/>
                </a:solidFill>
                <a:latin typeface="Calibri"/>
              </a:rPr>
              <a:t>Maliyet defteri ile şeffaf bütçe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FA855"/>
                </a:solidFill>
                <a:latin typeface="Calibri"/>
              </a:rPr>
              <a:t>▸  </a:t>
            </a:r>
            <a:r>
              <a:rPr sz="1400" b="0">
                <a:solidFill>
                  <a:srgbClr val="162232"/>
                </a:solidFill>
                <a:latin typeface="Calibri"/>
              </a:rPr>
              <a:t>Risk matrisi + onay kuyruğu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FA855"/>
                </a:solidFill>
                <a:latin typeface="Calibri"/>
              </a:rPr>
              <a:t>▸  </a:t>
            </a:r>
            <a:r>
              <a:rPr sz="1400" b="0">
                <a:solidFill>
                  <a:srgbClr val="162232"/>
                </a:solidFill>
                <a:latin typeface="Calibri"/>
              </a:rPr>
              <a:t>Kalıcı bilgi tabanı (Facts) ile öğrenir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Modern, Güvenilir Teknoloji Yığını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Çekirdek Motor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.NET 8 CLI · orkestrasyon, araçlar, risk politikası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Zeka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OpenAI Responses API · GPT-4.1 / GPT-5 · web_search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19933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9572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React + TypeScript + Vite · Tailwind · 34+ ekran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330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Veri &amp; Kuyruk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Supabase (Postgres) · RLS · 31 migration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5661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7307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1330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Dağıtım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Vercel · GitHub Actions worker (ücretsiz çalıştırma)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56616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73075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1330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Güvenlik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Row-Level Security · izin matrisi · onay zorlaması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Esnek mimari: şirket içi (on-prem) veya bulut; kendi modelinizi/anahtarınızı kullanma seçeneği.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İŞ DEĞERI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Ölçülebilir Kazanım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7004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6700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0E9C96"/>
                </a:solidFill>
                <a:latin typeface="Calibri"/>
              </a:rPr>
              <a:t>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Daha hızlı rapor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üretimi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920240"/>
            <a:ext cx="267004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2240280"/>
            <a:ext cx="26700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FA855"/>
                </a:solidFill>
                <a:latin typeface="Calibri"/>
              </a:rPr>
              <a:t>7/24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246120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Durmadan çalışan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ekip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920240"/>
            <a:ext cx="267004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2784" y="2240280"/>
            <a:ext cx="26700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2731F"/>
                </a:solidFill>
                <a:latin typeface="Calibri"/>
              </a:rPr>
              <a:t>%100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246120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İzlenebilir &amp;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denetlenebilir çıktı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920240"/>
            <a:ext cx="267004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89136" y="2240280"/>
            <a:ext cx="26700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B090FF"/>
                </a:solidFill>
                <a:latin typeface="Calibri"/>
              </a:rPr>
              <a:t>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246120"/>
            <a:ext cx="2670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Şeffaf maliyet,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kontrollü bütçe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76478"/>
                </a:solidFill>
                <a:latin typeface="Calibri"/>
              </a:rPr>
              <a:t>KPI ile yönetim: doğruluk, kaynak kapsaması, tutarlılık, hız, maliyet ve insan düzeltme oranı.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76478"/>
                </a:solidFill>
                <a:latin typeface="Calibri"/>
              </a:rPr>
              <a:t>Ekipler tekrar eden bilgi işini ajanlara devredip strateji ve karara odaklanır.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A855"/>
                </a:solidFill>
                <a:latin typeface="Calibri"/>
              </a:rPr>
              <a:t>SONRAKI ADIM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62232"/>
                </a:solidFill>
                <a:latin typeface="Calibri"/>
              </a:rPr>
              <a:t>Pilot ile Başlayalım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76478"/>
                </a:solidFill>
                <a:latin typeface="Calibri"/>
              </a:rPr>
              <a:t>Sizin bir iş akışınızı (ör. haftalık pazar brief’i veya rakip analizi)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76478"/>
                </a:solidFill>
                <a:latin typeface="Calibri"/>
              </a:rPr>
              <a:t>2 haftalık bir pilotta canlıya alalım — çıktıyı birlikte ölçelim.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2606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73659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1 · Keşif görüşmesi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4572000"/>
            <a:ext cx="2606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473659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2 · Pilot kapsamı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4572000"/>
            <a:ext cx="2606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54496" y="473659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3 · 2 hafta canlı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4" y="4572000"/>
            <a:ext cx="2606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70264" y="473659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4 · Değerlendirme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FA855"/>
                </a:solidFill>
                <a:latin typeface="Calibri"/>
              </a:rPr>
              <a:t>AgentArmy — Sizin yerinize çalışan yapay zeka ajan ordusu.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BIZ KIMIZ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AgentArmy’nin arkasında Techmora var.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576478"/>
                </a:solidFill>
                <a:latin typeface="Calibri"/>
              </a:rPr>
              <a:t>Techmora; yapay zeka destekli ürünler, siber güvenlik ve modern yazılım mühendisliği odağında kurumsal çözümler ve finansal altyapılar geliştiren bir teknoloji ve yatırım şirketidir.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C96"/>
                </a:solidFill>
                <a:latin typeface="Calibri"/>
              </a:rPr>
              <a:t>KURUCU ARKA PLANI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10128"/>
            <a:ext cx="73152" cy="1051560"/>
          </a:xfrm>
          <a:prstGeom prst="roundRect">
            <a:avLst/>
          </a:prstGeom>
          <a:solidFill>
            <a:srgbClr val="2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6537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162232"/>
                </a:solidFill>
                <a:latin typeface="Calibri"/>
              </a:rPr>
              <a:t>Techmora genç bir şirket olsa da; kurucularının geçmişte yer aldığı kurumlar ve yürüttüğü projeler, Türkiye ve dünya çapında büyük ölçekli işlerdir.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C96"/>
                </a:solidFill>
                <a:latin typeface="Calibri"/>
              </a:rPr>
              <a:t>ÜRÜN PORTFÖYÜ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6460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62232"/>
                </a:solidFill>
                <a:latin typeface="Calibri"/>
              </a:rPr>
              <a:t>TERRAMİND  ·  GUARDİONX  ·  GFRAUD  ·  AgentArmy  ·  Wallet  ·  Açık Bankacılık  ·  Sanal/Fiziki POS  ·  Check’NFit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İstanbul Teknokent, Avcılar   ·   info@techmorainvest.com   ·   techmorainvest.com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828800"/>
            <a:ext cx="3794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91440" cy="1325880"/>
          </a:xfrm>
          <a:prstGeom prst="roundRect">
            <a:avLst/>
          </a:prstGeom>
          <a:solidFill>
            <a:srgbClr val="2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199339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Mimari Disiplin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39572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Kurumsal ölçekte sürdürülebilirlik; net sınırlar, gözlemlenebilirlik ve güvenli varsayılanlar.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310128"/>
            <a:ext cx="3794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26679" y="3310128"/>
            <a:ext cx="91440" cy="132588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34747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Güven &amp; Uyum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877056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KVKK ve sektör standartlarına uygun, denetlenebilir süreçlerle yönetilen riskler.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791456"/>
            <a:ext cx="3794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26679" y="4791456"/>
            <a:ext cx="91440" cy="1325880"/>
          </a:xfrm>
          <a:prstGeom prst="roundRect">
            <a:avLst/>
          </a:prstGeom>
          <a:solidFill>
            <a:srgbClr val="E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4956048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Ürün Odaklılık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358384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Ölçümleme ve iterasyonla değer üreten, uzun ömürlü ürünler.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76478"/>
                </a:solidFill>
                <a:latin typeface="Calibri"/>
              </a:rPr>
              <a:t>AgentArmy — Müşteri Sunumu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KURUCU REFERANSLARI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Kurucunun referansları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76478"/>
                </a:solidFill>
                <a:latin typeface="Calibri"/>
              </a:rPr>
              <a:t>Kurucumuzun geçmişte görev aldığı kurumlar, çalıştığı projeler ve iş birliklerinden bir seçki.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A855"/>
                </a:solidFill>
                <a:latin typeface="Calibri"/>
              </a:rPr>
              <a:t>KAMU &amp; SAVUNMA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316839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889504"/>
            <a:ext cx="31683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Çevre ve Şehircilik Bakanlığı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3068" y="2788920"/>
            <a:ext cx="211226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3068" y="2889504"/>
            <a:ext cx="2112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İçişleri Bakanlığı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9924" y="2788920"/>
            <a:ext cx="76809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9924" y="2889504"/>
            <a:ext cx="768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TÜİK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2612" y="2788920"/>
            <a:ext cx="115214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82612" y="2889504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Yargıtay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9348" y="2788920"/>
            <a:ext cx="105613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A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99348" y="2889504"/>
            <a:ext cx="10561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Aselsan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C96"/>
                </a:solidFill>
                <a:latin typeface="Calibri"/>
              </a:rPr>
              <a:t>ÖZEL SEKTÖR &amp; FİNANS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16322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9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86784"/>
            <a:ext cx="16322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İşbir Holding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6876" y="3886200"/>
            <a:ext cx="105613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9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36876" y="3986784"/>
            <a:ext cx="10561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Bitexen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886200"/>
            <a:ext cx="182422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9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3986784"/>
            <a:ext cx="18242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Dinamik Yatırım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46420" y="3886200"/>
            <a:ext cx="134416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9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46420" y="3986784"/>
            <a:ext cx="1344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Arsa ve Ev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5180" y="3886200"/>
            <a:ext cx="960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9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55180" y="398678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Eslior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9892" y="3886200"/>
            <a:ext cx="15361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9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9892" y="3986784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Fast 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17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2731F"/>
                </a:solidFill>
                <a:latin typeface="Calibri"/>
              </a:rPr>
              <a:t>ULUSLARARASI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83480"/>
            <a:ext cx="8641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084064"/>
            <a:ext cx="8641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Nikon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68780" y="4983480"/>
            <a:ext cx="8641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7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68780" y="5084064"/>
            <a:ext cx="8641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Canon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15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90FF"/>
                </a:solidFill>
                <a:latin typeface="Calibri"/>
              </a:rPr>
              <a:t>ÜNİVERSİTELER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80760"/>
            <a:ext cx="316839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181344"/>
            <a:ext cx="31683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Orta Doğu Teknik Üniversitesi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3068" y="6080760"/>
            <a:ext cx="249631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73068" y="6181344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Kırıkkale Üniversitesi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33972" y="6080760"/>
            <a:ext cx="19202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33972" y="618134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Ege Üniversitesi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18804" y="6080760"/>
            <a:ext cx="268833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18804" y="6181344"/>
            <a:ext cx="2688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232"/>
                </a:solidFill>
                <a:latin typeface="Calibri"/>
              </a:rPr>
              <a:t>Dokuz Eylül Üniversitesi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6934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76478"/>
                </a:solidFill>
                <a:latin typeface="Calibri"/>
              </a:rPr>
              <a:t>+ ve çeşitli küçük çaplı e-ticaret sistemleri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1216</Words>
  <Application>Microsoft Macintosh PowerPoint</Application>
  <PresentationFormat>Geniş ekran</PresentationFormat>
  <Paragraphs>247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Muhammet Akbulut</cp:lastModifiedBy>
  <cp:revision>1</cp:revision>
  <dcterms:created xsi:type="dcterms:W3CDTF">2013-01-27T09:14:16Z</dcterms:created>
  <dcterms:modified xsi:type="dcterms:W3CDTF">2026-06-09T12:29:21Z</dcterms:modified>
  <cp:category/>
</cp:coreProperties>
</file>