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9C96"/>
                </a:solidFill>
                <a:latin typeface="Calibri"/>
              </a:rPr>
              <a:t>AGENTARMY  ·  KİMYA SEKTÖRÜ ÇÖZÜMLERİ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2232"/>
                </a:solidFill>
                <a:latin typeface="Calibri"/>
              </a:rPr>
              <a:t>Kimya Sektörü İçin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62232"/>
                </a:solidFill>
                <a:latin typeface="Calibri"/>
              </a:rPr>
              <a:t>Yapay Zeka Ajan Ordusu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Pazar istihbaratından tedarik otomasyonuna, regülasyon takibinden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Ar-Ge dokümantasyonuna — uzman ajan ekipleri sizin yerinize çalışır.</a:t>
            </a:r>
          </a:p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Kanıt, izlenebilirlik ve insan onayı varsayılan olarak gelir.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9379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232"/>
                </a:solidFill>
                <a:latin typeface="Calibri"/>
              </a:rPr>
              <a:t>Üretim &amp; Pazar İstihbaratı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519379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232"/>
                </a:solidFill>
                <a:latin typeface="Calibri"/>
              </a:rPr>
              <a:t>Tedarik Otomasyonu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519379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232"/>
                </a:solidFill>
                <a:latin typeface="Calibri"/>
              </a:rPr>
              <a:t>Regülasyon &amp; Uyum Takibi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5074920"/>
            <a:ext cx="2697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5193792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62232"/>
                </a:solidFill>
                <a:latin typeface="Calibri"/>
              </a:rPr>
              <a:t>Ar-Ge &amp; Teknik Doküman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Müşteri Sunumu  ·  Gizli ve Özeldir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NEDEN ŞIMDI?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Kimya Sektöründe Bilgi İşi Yükü Büyüyor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Regülasyon baskısı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KKDİK, REACH, CLP ve sürekli güncellenen AB/ECHA mevzuatını takip etmek tam zamanlı bir iş haline geldi; kaçan bir güncelleme ihracatı durdurabiliyor.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Hammadde fiyat oynaklığı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Solvent, pigment, polimer ve özel kimyasal fiyatları küresel piyasada hızla değişiyor; tedarik ve fiyatlama kararları güncel veri istiyor.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507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Dokümantasyon yükü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TDS, spesifikasyon, teklif ve teknik yazışmalar mühendislerin saatlerini alıyor; Ar-Ge asıl işine zaman ayıramıyor.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53949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507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531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Pazar ve rakip takibi manuel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46320"/>
            <a:ext cx="4937760" cy="822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Rakip ürün lansmanları, fiyat hareketleri ve pazar trendleri düzensiz ve kişiye bağlı izleniyor; fırsatlar geç fark ediliyor.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ÇÖZÜM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AgentArmy: Görev Verin, Denetlenmiş Çıktı Alın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Soru-cevap aracı değil; hedefi parçalayan, paralel çalışan ve kalite kapılarından geçen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576478"/>
                </a:solidFill>
                <a:latin typeface="Calibri"/>
              </a:rPr>
              <a:t>kaynaklı çıktı üreten çoklu ajan sistemi.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3183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183" y="3035808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FA855"/>
                </a:solidFill>
                <a:latin typeface="Calibri"/>
              </a:rPr>
              <a:t>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183" y="358444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Hedef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2911" y="4005072"/>
            <a:ext cx="1773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Doğal dille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isteğinizi yazın</a:t>
            </a:r>
          </a:p>
        </p:txBody>
      </p:sp>
      <p:sp>
        <p:nvSpPr>
          <p:cNvPr id="11" name="Chevron 10"/>
          <p:cNvSpPr/>
          <p:nvPr/>
        </p:nvSpPr>
        <p:spPr>
          <a:xfrm>
            <a:off x="2758287" y="356616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41167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1167" y="3035808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FA855"/>
                </a:solidFill>
                <a:latin typeface="Calibri"/>
              </a:rPr>
              <a:t>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1167" y="358444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CEO Ajan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0895" y="4005072"/>
            <a:ext cx="1773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Görevi parçalar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ve dağıtır</a:t>
            </a:r>
          </a:p>
        </p:txBody>
      </p:sp>
      <p:sp>
        <p:nvSpPr>
          <p:cNvPr id="16" name="Chevron 15"/>
          <p:cNvSpPr/>
          <p:nvPr/>
        </p:nvSpPr>
        <p:spPr>
          <a:xfrm>
            <a:off x="4916271" y="356616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99151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9151" y="3035808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FA855"/>
                </a:solidFill>
                <a:latin typeface="Calibri"/>
              </a:rPr>
              <a:t>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9151" y="358444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Ajan Ordusu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8879" y="4005072"/>
            <a:ext cx="1773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Araştır · Analiz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Yaz · Denetle</a:t>
            </a:r>
          </a:p>
        </p:txBody>
      </p:sp>
      <p:sp>
        <p:nvSpPr>
          <p:cNvPr id="21" name="Chevron 20"/>
          <p:cNvSpPr/>
          <p:nvPr/>
        </p:nvSpPr>
        <p:spPr>
          <a:xfrm>
            <a:off x="7074255" y="356616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57135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57135" y="3035808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FA855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7135" y="358444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Kalite Kapıları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6863" y="4005072"/>
            <a:ext cx="1773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Kaynak ve tutarlılık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denetimi</a:t>
            </a:r>
          </a:p>
        </p:txBody>
      </p:sp>
      <p:sp>
        <p:nvSpPr>
          <p:cNvPr id="26" name="Chevron 25"/>
          <p:cNvSpPr/>
          <p:nvPr/>
        </p:nvSpPr>
        <p:spPr>
          <a:xfrm>
            <a:off x="9232239" y="356616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415119" y="2834640"/>
            <a:ext cx="1993392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5119" y="3035808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2FA855"/>
                </a:solidFill>
                <a:latin typeface="Calibri"/>
              </a:rPr>
              <a:t>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5119" y="3584448"/>
            <a:ext cx="1993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Çıktı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4847" y="4005072"/>
            <a:ext cx="177393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Kaynaklı,</a:t>
            </a:r>
          </a:p>
          <a:p>
            <a:pPr algn="ctr">
              <a:lnSpc>
                <a:spcPct val="105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güvenilir rapor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Örnek: “Epoksi reçine pazarında son çeyrek fiyat hareketlerini ve ilk 5 tedarikçiyi çıkar” →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62232"/>
                </a:solidFill>
                <a:latin typeface="Calibri"/>
              </a:rPr>
              <a:t>araştırma, analiz, rapor ve kaynak doğrulaması otomatik; siz yalnız sonucu onaylarsınız.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Kurumsal Kullanım İçin Tasarlanmış Yetenekler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Playbook orkestrasyonu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Tekrarlanan işler adım adım tanımlanır; her seferinde aynı kalitede, izlenebilir şekilde çalışır.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Uzman ajan rolleri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Araştırmacı, Analist, Yazar, Editör, Denetçi ve araç kullanan Operatör; her rolün net sorumluluğu var.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2880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Web kaynaklı araştırma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Canlı web aramasıyla güncel veri; her iddia URL kaynağıyla raporun sonuna eklenir.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5935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3616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Kalite kapıları (Verifier)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54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Denetimsiz final yok: kaynak doğrulama, çelişki yakalama ve rubrik bazlı kalite kontrolü.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794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95935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3616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Risk &amp; onay yönetimi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754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R0–R3 risk sınıfları; sipariş gibi kritik işlemler insan onayı olmadan asla gerçekleşmez.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794760"/>
            <a:ext cx="35204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95935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0E9C96"/>
                </a:solidFill>
                <a:latin typeface="Calibri"/>
              </a:rPr>
              <a:t>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36168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232"/>
                </a:solidFill>
                <a:latin typeface="Calibri"/>
              </a:rPr>
              <a:t>Kalıcı bilgi tabanı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75488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Her çalışmadan çıkan doğrulanmış bulgular (facts) birikir; kurumsal hafıza zamanla güçlenir.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E9C96"/>
                </a:solidFill>
                <a:latin typeface="Calibri"/>
              </a:rPr>
              <a:t>Tümü web tabanlı portaldan yönetilir: iş başlatma, canlı izleme, onay kuyruğu ve raporlar tek ekranda.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KULLANIM ALANLARI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İşletmenizin Üç Kolu İçin Tek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108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E9C96"/>
                </a:solidFill>
                <a:latin typeface="Calibri"/>
              </a:rPr>
              <a:t>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Üretim &amp; Ticaret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7432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Pazar ve rakip istihbaratı (haftalık brief)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Rakip fiyat karşılaştırma raporları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Ürün lansman ve trend radarı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Teklif ve satış destek içerikleri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828800"/>
            <a:ext cx="3108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011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2731F"/>
                </a:solidFill>
                <a:latin typeface="Calibri"/>
              </a:rPr>
              <a:t>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514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Tedarik &amp; Stok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017520"/>
            <a:ext cx="27432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E2731F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Stok eşiği izleme (7/24 otomatik)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E2731F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Gerçek fiyat/tedarikçi araştırması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E2731F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İnsan onaylı satın alma emri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E2731F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Kargo takibi ve stok yenileme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67344" y="1828800"/>
            <a:ext cx="3108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5944" y="20116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FA855"/>
                </a:solidFill>
                <a:latin typeface="Calibri"/>
              </a:rPr>
              <a:t>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944" y="25146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2232"/>
                </a:solidFill>
                <a:latin typeface="Calibri"/>
              </a:rPr>
              <a:t>Ar-Ge &amp; Uyum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3017520"/>
            <a:ext cx="274320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FA855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Regülasyon değişiklik radarı (KKDİK/REACH)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FA855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Literatür ve patent tarama özetleri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FA855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TDS / teknik doküman taslakları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50" b="1">
                <a:solidFill>
                  <a:srgbClr val="2FA855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Müşteri teknik sorularına yanıt taslakları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76478"/>
                </a:solidFill>
                <a:latin typeface="Calibri"/>
              </a:rPr>
              <a:t>Aynı çekirdek platform; kimya sektörüne özel playbook, persona ve doğrulama kurallarıyla yapılandırılır — sıfırdan yazılım geliştirme gerekmez.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SENARYO 1 · ÜRETIM &amp; TICARET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Pazar ve Rakip İstihbaratı — Otomatik Haftalık Brief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576478"/>
                </a:solidFill>
                <a:latin typeface="Calibri"/>
              </a:rPr>
              <a:t>Her pazartesi sabahı, ekibiniz daha kahvesini içerken hazır: kaynaklı, denetlenmiş pazar özeti.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03504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E9C96"/>
                </a:solidFill>
                <a:latin typeface="Calibri"/>
              </a:rPr>
              <a:t>▸  </a:t>
            </a:r>
            <a:r>
              <a:rPr sz="1450" b="1">
                <a:solidFill>
                  <a:srgbClr val="162232"/>
                </a:solidFill>
                <a:latin typeface="Calibri"/>
              </a:rPr>
              <a:t>Haftalık pazar brifi: </a:t>
            </a:r>
            <a:r>
              <a:rPr sz="1450">
                <a:solidFill>
                  <a:srgbClr val="576478"/>
                </a:solidFill>
                <a:latin typeface="Calibri"/>
              </a:rPr>
              <a:t>hedef segmentte (örn. boya kimyasalları, yapıştırıcılar) haftanın gelişmeleri, tek sayfa özet.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E9C96"/>
                </a:solidFill>
                <a:latin typeface="Calibri"/>
              </a:rPr>
              <a:t>▸  </a:t>
            </a:r>
            <a:r>
              <a:rPr sz="1450" b="1">
                <a:solidFill>
                  <a:srgbClr val="162232"/>
                </a:solidFill>
                <a:latin typeface="Calibri"/>
              </a:rPr>
              <a:t>Rakip profili: </a:t>
            </a:r>
            <a:r>
              <a:rPr sz="1450">
                <a:solidFill>
                  <a:srgbClr val="576478"/>
                </a:solidFill>
                <a:latin typeface="Calibri"/>
              </a:rPr>
              <a:t>seçilen rakibin ürün gamı, yeni lansmanları, duyuruları ve stratejik hamleleri.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E9C96"/>
                </a:solidFill>
                <a:latin typeface="Calibri"/>
              </a:rPr>
              <a:t>▸  </a:t>
            </a:r>
            <a:r>
              <a:rPr sz="1450" b="1">
                <a:solidFill>
                  <a:srgbClr val="162232"/>
                </a:solidFill>
                <a:latin typeface="Calibri"/>
              </a:rPr>
              <a:t>Fiyat karşılaştırma: </a:t>
            </a:r>
            <a:r>
              <a:rPr sz="1450">
                <a:solidFill>
                  <a:srgbClr val="576478"/>
                </a:solidFill>
                <a:latin typeface="Calibri"/>
              </a:rPr>
              <a:t>rakip ürün/fiyat verilerinin düzenli karşılaştırmalı tablosu.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50" b="1">
                <a:solidFill>
                  <a:srgbClr val="0E9C96"/>
                </a:solidFill>
                <a:latin typeface="Calibri"/>
              </a:rPr>
              <a:t>▸  </a:t>
            </a:r>
            <a:r>
              <a:rPr sz="1450" b="1">
                <a:solidFill>
                  <a:srgbClr val="162232"/>
                </a:solidFill>
                <a:latin typeface="Calibri"/>
              </a:rPr>
              <a:t>Bilgi birikimi: </a:t>
            </a:r>
            <a:r>
              <a:rPr sz="1450">
                <a:solidFill>
                  <a:srgbClr val="576478"/>
                </a:solidFill>
                <a:latin typeface="Calibri"/>
              </a:rPr>
              <a:t>her çalışmadan doğrulanmış bulgular kalıcı bilgi tabanına işlenir; raporlar giderek keskinleşir.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77440"/>
            <a:ext cx="45720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606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NASIL ÇALIŞIR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017520"/>
            <a:ext cx="416052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1. Zamanlanmış paket (bundle) tetiklenir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2. Araştırmacı canlı web verisi toplar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3. Analist iddiaları ve sayıları test eder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4. Yazar brifi kurar, Editör düzenler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5. Denetçi kaynakları doğrular (PASS/FAIL)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6. Rapor + URL kaynak listesi hazır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Kazanım: pazarlama/strateji ekibinin haftalar süren manuel taraması, denetlenmiş otomatik rapora dönüşür.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2731F"/>
                </a:solidFill>
                <a:latin typeface="Calibri"/>
              </a:rPr>
              <a:t>SENARYO 2 · TEDARIK &amp; STOK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Hammadde Tedarik Otomasyonu — Uçtan Uca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76478"/>
                </a:solidFill>
                <a:latin typeface="Calibri"/>
              </a:rPr>
              <a:t>Stok eşiğin altına düşen hammadde, ambalaj veya sarf malzemesi için sistem kendiliğinden harekete geçer — sipariş ise yalnız sizin onayınızla verilir.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863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8863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863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Stok İzleme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8591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Eşik altı tespit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(15 dk periyot)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6223" y="347472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92527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2527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2527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Ürün Araştırma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2255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Gerçek fiyat,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satıcı ve link</a:t>
            </a:r>
          </a:p>
        </p:txBody>
      </p:sp>
      <p:sp>
        <p:nvSpPr>
          <p:cNvPr id="16" name="Chevron 15"/>
          <p:cNvSpPr/>
          <p:nvPr/>
        </p:nvSpPr>
        <p:spPr>
          <a:xfrm>
            <a:off x="4129887" y="347472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6191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6191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6191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Karşılaştırma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5919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En uygun seçenek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+ link doğrulama</a:t>
            </a:r>
          </a:p>
        </p:txBody>
      </p:sp>
      <p:sp>
        <p:nvSpPr>
          <p:cNvPr id="21" name="Chevron 20"/>
          <p:cNvSpPr/>
          <p:nvPr/>
        </p:nvSpPr>
        <p:spPr>
          <a:xfrm>
            <a:off x="6013551" y="347472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59855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9855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9855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İnsan Onayı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9583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R3 onay kuyruğu: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Onayla / Reddet</a:t>
            </a:r>
          </a:p>
        </p:txBody>
      </p:sp>
      <p:sp>
        <p:nvSpPr>
          <p:cNvPr id="26" name="Chevron 25"/>
          <p:cNvSpPr/>
          <p:nvPr/>
        </p:nvSpPr>
        <p:spPr>
          <a:xfrm>
            <a:off x="7897215" y="347472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3519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3519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3519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Sipariş &amp; Kargo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3247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PO oluşur,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kargo takibi</a:t>
            </a:r>
          </a:p>
        </p:txBody>
      </p:sp>
      <p:sp>
        <p:nvSpPr>
          <p:cNvPr id="31" name="Chevron 30"/>
          <p:cNvSpPr/>
          <p:nvPr/>
        </p:nvSpPr>
        <p:spPr>
          <a:xfrm>
            <a:off x="9780879" y="3474720"/>
            <a:ext cx="201168" cy="457200"/>
          </a:xfrm>
          <a:prstGeom prst="chevron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27183" y="2743200"/>
            <a:ext cx="175564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7183" y="2944368"/>
            <a:ext cx="17556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E2731F"/>
                </a:solidFill>
                <a:latin typeface="Calibri"/>
              </a:rPr>
              <a:t>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7183" y="3493008"/>
            <a:ext cx="17556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Stok Yenileme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6911" y="3913632"/>
            <a:ext cx="1536192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Teslimatta stok</a:t>
            </a:r>
          </a:p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576478"/>
                </a:solidFill>
                <a:latin typeface="Calibri"/>
              </a:rPr>
              <a:t>otomatik güncellenir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10972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2731F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Gerçek veri, uydurma yok: </a:t>
            </a:r>
            <a:r>
              <a:rPr sz="1400">
                <a:solidFill>
                  <a:srgbClr val="576478"/>
                </a:solidFill>
                <a:latin typeface="Calibri"/>
              </a:rPr>
              <a:t>fiyat ve linkler gerçek arama servislerinden gelir; yapay zeka yalnız yorumlar.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E2731F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Kontrol sizde: </a:t>
            </a:r>
            <a:r>
              <a:rPr sz="1400">
                <a:solidFill>
                  <a:srgbClr val="576478"/>
                </a:solidFill>
                <a:latin typeface="Calibri"/>
              </a:rPr>
              <a:t>satın alma emri (R3) insan onayı olmadan asla geçmez; onay ekranında gerekçe ve alternatifler görünür.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SENARYO 3 · UYUM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Regülasyon Radarı — KKDİK, REACH, CLP Takibi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Değişiklik radarı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ECHA, AB Resmi Gazetesi ve ulusal mevzuat kaynakları düzenli taranır; sektörünüzü ilgilendiren değişiklikler kaynaklı özet olarak gelir.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933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Etki analizi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Değişikliğin ürün portföyünüze olası etkisi: hangi ürün grubu, hangi yükümlülük, hangi tarih. Analist + Denetçi zinciriyle çelişkisiz rapor.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05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074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Uyum doküman desteği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006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Kayıt dosyaları, bildirim yazışmaları ve iç eğitim özetleri için taslak hazırlığı; nihai karar her zaman uzmanınızda.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4048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00507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FA855"/>
                </a:solidFill>
                <a:latin typeface="Calibri"/>
              </a:rPr>
              <a:t>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40740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62232"/>
                </a:solidFill>
                <a:latin typeface="Calibri"/>
              </a:rPr>
              <a:t>Zamanlanmış çalışma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800600"/>
            <a:ext cx="4937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76478"/>
                </a:solidFill>
                <a:latin typeface="Calibri"/>
              </a:rPr>
              <a:t>Haftalık/aylık otomatik tarama; yeni bir şey yoksa kısa 'değişiklik yok' notu, varsa detaylı brif. Ekibiniz yalnız aksiyon gerektirenle ilgilenir.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76478"/>
                </a:solidFill>
                <a:latin typeface="Calibri"/>
              </a:rPr>
              <a:t>Not: Platform hukuki danışmanlık vermez; uzmanlarınızın kararını hızlandıran, kaynaklı ve denetlenmiş ön çalışma üretir.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SENARYO 4 · AR-GE &amp; LABORATUVAR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Ar-Ge Ekibinize Dijital Asistan Ordusu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658368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E9C96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Literatür &amp; patent tarama: </a:t>
            </a:r>
            <a:r>
              <a:rPr sz="1400">
                <a:solidFill>
                  <a:srgbClr val="576478"/>
                </a:solidFill>
                <a:latin typeface="Calibri"/>
              </a:rPr>
              <a:t>yeni formülasyon çalışmaları öncesi mevcut yaklaşımların kaynaklı özeti; günler süren tarama saatlere iner.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E9C96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Alternatif hammadde araştırması: </a:t>
            </a:r>
            <a:r>
              <a:rPr sz="1400">
                <a:solidFill>
                  <a:srgbClr val="576478"/>
                </a:solidFill>
                <a:latin typeface="Calibri"/>
              </a:rPr>
              <a:t>kısıtlanan veya pahalılaşan bir girdiye ikame seçenekleri, tedarikçi ve fiyat bilgisiyle.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E9C96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TDS / teknik doküman taslakları: </a:t>
            </a:r>
            <a:r>
              <a:rPr sz="1400">
                <a:solidFill>
                  <a:srgbClr val="576478"/>
                </a:solidFill>
                <a:latin typeface="Calibri"/>
              </a:rPr>
              <a:t>ürün verilerinizden standart formatta taslak; Editör dil ve format tutarlılığını sağlar.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E9C96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Müşteri teknik soruları: </a:t>
            </a:r>
            <a:r>
              <a:rPr sz="1400">
                <a:solidFill>
                  <a:srgbClr val="576478"/>
                </a:solidFill>
                <a:latin typeface="Calibri"/>
              </a:rPr>
              <a:t>sık gelen uygulama/uyumluluk sorularına kaynaklı yanıt taslakları; mühendis yalnız kontrol edip gönderir.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0E9C96"/>
                </a:solidFill>
                <a:latin typeface="Calibri"/>
              </a:rPr>
              <a:t>▸  </a:t>
            </a:r>
            <a:r>
              <a:rPr sz="1400" b="1">
                <a:solidFill>
                  <a:srgbClr val="162232"/>
                </a:solidFill>
                <a:latin typeface="Calibri"/>
              </a:rPr>
              <a:t>Rapor standartlaştırma: </a:t>
            </a:r>
            <a:r>
              <a:rPr sz="1400">
                <a:solidFill>
                  <a:srgbClr val="576478"/>
                </a:solidFill>
                <a:latin typeface="Calibri"/>
              </a:rPr>
              <a:t>deney ve proje raporlarının tek formatta, eksiksiz bölümlerle derlenmesi.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920240"/>
            <a:ext cx="402336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1488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NEDEN GÜVENİLİR?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560320"/>
            <a:ext cx="3611880" cy="3017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Her iddia URL kaynağıyla gelir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Denetçi ajan çelişkileri yakalar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Kimyaya özel doğrulama rubriği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Nihai onay her zaman insanda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2FA855"/>
                </a:solidFill>
                <a:latin typeface="Calibri"/>
              </a:rPr>
              <a:t>▸  </a:t>
            </a:r>
            <a:r>
              <a:rPr sz="1300">
                <a:solidFill>
                  <a:srgbClr val="162232"/>
                </a:solidFill>
                <a:latin typeface="Calibri"/>
              </a:rPr>
              <a:t>Tüm adımlar kayıt altında (denetim izi)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Kazanım: Ar-Ge mühendisleri doküman işçiliğinden kurtulur, laboratuvara ve inovasyona odaklanır.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2731F"/>
                </a:solidFill>
                <a:latin typeface="Calibri"/>
              </a:rPr>
              <a:t>YÖNETIM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Web Portal: Her Şey Tek Ekranda, Kod Gerekmez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İş başlatma &amp; canlı izleme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Doğal dille yeni iş açın; adımları ve çıktıları canlı izleyin.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Stok ekranı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Ürün ekleyin, eşik ve hedef belirleyin; izlemeyi açıp kapatın.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82880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99339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239572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Onay kuyruğu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78892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Bekleyen kritik işlemler için satır içi Onayla/Reddet + gerekçe paneli.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764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1788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Tedarik raporu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Stok tetikleri, siparişler ve kargo durumu; '● Canlı' otomatik yenileme.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7764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1788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İçerik yönetimi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572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Playbook, persona, paket ve araç tanımları ekranlardan yönetilir.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611880"/>
            <a:ext cx="3520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3776472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2731F"/>
                </a:solidFill>
                <a:latin typeface="Calibri"/>
              </a:rPr>
              <a:t>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0456" y="4178808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KPI &amp; raporlama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457200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Tamamlanan operasyonlardan otomatik KPI özetleri ve dışa aktarım.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Satın alma, kalite, Ar-Ge ve yönetim aynı platformda çalışır; yetkiler role göre ayrışır.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76478"/>
                </a:solidFill>
                <a:latin typeface="Calibri"/>
              </a:rPr>
              <a:t>Kurulum sonrası yeni süreç eklemek yazılım projesi değil, yapılandırma işidir.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GÜVEN &amp; KONTROL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Özerklik Artar, Kontrol Sizde Kalır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766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9728" cy="868680"/>
          </a:xfrm>
          <a:prstGeom prst="roundRect">
            <a:avLst/>
          </a:prstGeom>
          <a:solidFill>
            <a:srgbClr val="2FA8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R0  ·  Okuma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Veri okuma, araştırma, raporlama — serbest çalışır.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34640"/>
            <a:ext cx="6766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834640"/>
            <a:ext cx="109728" cy="86868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R1  ·  Düşük riskli yazma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Stok güncelleme gibi geri alınabilir işlemler — kayıtlı ve izlenebilir.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6766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109728" cy="868680"/>
          </a:xfrm>
          <a:prstGeom prst="roundRect">
            <a:avLst/>
          </a:prstGeom>
          <a:solidFill>
            <a:srgbClr val="E273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95020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R2  ·  Hassas işlem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29768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Dış sistemlere veri gönderimi — onay kuyruğuna düşer.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67665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4846320"/>
            <a:ext cx="109728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56048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R3  ·  Kritik işlem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03520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Satın alma emri gibi mali sonuçlu işlemler — insan onayı zorunlu, onaysız asla geçmez.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1828800"/>
            <a:ext cx="3749039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9C96"/>
                </a:solidFill>
                <a:latin typeface="Calibri"/>
              </a:rPr>
              <a:t>AYRICA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468880"/>
            <a:ext cx="333756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Tüm adımların denetim izi (kim, ne, ne zaman)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Çıktılarda zorunlu kaynak listesi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Rol bazlı erişim ve izin matrisi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Maliyet takibi: model kullanımı iş bazında izlenir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0E9C96"/>
                </a:solidFill>
                <a:latin typeface="Calibri"/>
              </a:rPr>
              <a:t>▸  </a:t>
            </a:r>
            <a:r>
              <a:rPr sz="1250">
                <a:solidFill>
                  <a:srgbClr val="162232"/>
                </a:solidFill>
                <a:latin typeface="Calibri"/>
              </a:rPr>
              <a:t>Verileriniz size ait; satıcı kilidi yok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62232"/>
                </a:solidFill>
                <a:latin typeface="Calibri"/>
              </a:rPr>
              <a:t>Felsefemiz: “denetimsiz final yok” — hızı otomasyondan, güveni insan onayından alırız.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A855"/>
                </a:solidFill>
                <a:latin typeface="Calibri"/>
              </a:rPr>
              <a:t>İŞ DEĞERI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Beklenen Kazanımlar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108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E9C96"/>
                </a:solidFill>
                <a:latin typeface="Calibri"/>
              </a:rPr>
              <a:t>%60–80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zaman tasarrufu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pazar araştırması, brif ve rapor hazırlığında manuel eforun otomasyona devri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828800"/>
            <a:ext cx="3108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E9C96"/>
                </a:solidFill>
                <a:latin typeface="Calibri"/>
              </a:rPr>
              <a:t>7/24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971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kesintisiz izleme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33832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stok, fiyat ve regülasyon takibi mesai saatine bağlı olmaktan çıkar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67344" y="1828800"/>
            <a:ext cx="310896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1031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0E9C96"/>
                </a:solidFill>
                <a:latin typeface="Calibri"/>
              </a:rPr>
              <a:t>%100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9718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62232"/>
                </a:solidFill>
                <a:latin typeface="Calibri"/>
              </a:rPr>
              <a:t>kaynaklı çıktı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3383280"/>
            <a:ext cx="25603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 i="0">
                <a:solidFill>
                  <a:srgbClr val="576478"/>
                </a:solidFill>
                <a:latin typeface="Calibri"/>
              </a:rPr>
              <a:t>her rapor URL kaynakları ve denetçi kontrolüyle gelir; “kaynağı neydi?” sorusu biter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2232"/>
                </a:solidFill>
                <a:latin typeface="Calibri"/>
              </a:rPr>
              <a:t>Örnek hesap (varsayımsal):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9728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FA855"/>
                </a:solidFill>
                <a:latin typeface="Calibri"/>
              </a:rPr>
              <a:t>▸  </a:t>
            </a:r>
            <a:r>
              <a:rPr sz="1350" b="1">
                <a:solidFill>
                  <a:srgbClr val="162232"/>
                </a:solidFill>
                <a:latin typeface="Calibri"/>
              </a:rPr>
              <a:t>Pazar/rakip takibi: </a:t>
            </a:r>
            <a:r>
              <a:rPr sz="1350">
                <a:solidFill>
                  <a:srgbClr val="576478"/>
                </a:solidFill>
                <a:latin typeface="Calibri"/>
              </a:rPr>
              <a:t>haftada 2 kişi × 1 gün → otomatik brif + 30 dk kontrol ≈ ayda ~14 iş günü kazanım.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2FA855"/>
                </a:solidFill>
                <a:latin typeface="Calibri"/>
              </a:rPr>
              <a:t>▸  </a:t>
            </a:r>
            <a:r>
              <a:rPr sz="1350" b="1">
                <a:solidFill>
                  <a:srgbClr val="162232"/>
                </a:solidFill>
                <a:latin typeface="Calibri"/>
              </a:rPr>
              <a:t>Tedarik araştırması: </a:t>
            </a:r>
            <a:r>
              <a:rPr sz="1350">
                <a:solidFill>
                  <a:srgbClr val="576478"/>
                </a:solidFill>
                <a:latin typeface="Calibri"/>
              </a:rPr>
              <a:t>eşik altı her ürün için ~yarım günlük araştırma → dakikalar içinde onaya hazır öneri.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76478"/>
                </a:solidFill>
                <a:latin typeface="Calibri"/>
              </a:rPr>
              <a:t>* Oranlar örnek senaryolara dayalı hedeflerdir; pilot çalışmada kendi süreçlerinizle birlikte ölçülür.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9C96"/>
                </a:solidFill>
                <a:latin typeface="Calibri"/>
              </a:rPr>
              <a:t>YOL HARITASI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62232"/>
                </a:solidFill>
                <a:latin typeface="Calibri"/>
              </a:rPr>
              <a:t>4 Adımda Pilot: Düşük Risk, Hızlı Sonuç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81328"/>
            <a:ext cx="822960" cy="76200"/>
          </a:xfrm>
          <a:prstGeom prst="round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148840"/>
            <a:ext cx="502920" cy="502920"/>
          </a:xfrm>
          <a:prstGeom prst="ellipse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311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Keşif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4871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731F"/>
                </a:solidFill>
                <a:latin typeface="Calibri"/>
              </a:rPr>
              <a:t>1–2 hafta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Süreç ve ağrı haritası, terminoloji sözlüğü, hedef senaryoların seçimi (örn. tedarik + regülasyon radarı).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92024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76472" y="2148840"/>
            <a:ext cx="502920" cy="502920"/>
          </a:xfrm>
          <a:prstGeom prst="ellipse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2311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Yapılandırma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4871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731F"/>
                </a:solidFill>
                <a:latin typeface="Calibri"/>
              </a:rPr>
              <a:t>1–2 hafta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6472" y="297180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Kimyaya özel playbook, persona ve doğrulama kuralları; stok/araç entegrasyonları; onay akışlarının kurulumu.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192024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84264" y="2148840"/>
            <a:ext cx="502920" cy="502920"/>
          </a:xfrm>
          <a:prstGeom prst="ellipse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84264" y="22311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4344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Pilot çalışma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24344" y="24871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731F"/>
                </a:solidFill>
                <a:latin typeface="Calibri"/>
              </a:rPr>
              <a:t>3–4 hafta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4264" y="297180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Seçilen ekip gerçek işlerde kullanır; haftalık geri bildirim döngüsü; kalite ve süre metrikleri toplanır.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6" y="1920240"/>
            <a:ext cx="26974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92056" y="2148840"/>
            <a:ext cx="502920" cy="502920"/>
          </a:xfrm>
          <a:prstGeom prst="ellipse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92056" y="22311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2136" y="2176272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62232"/>
                </a:solidFill>
                <a:latin typeface="Calibri"/>
              </a:rPr>
              <a:t>Değerlendirme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32136" y="24871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2731F"/>
                </a:solidFill>
                <a:latin typeface="Calibri"/>
              </a:rPr>
              <a:t>1 hafta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2971800"/>
            <a:ext cx="22402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76478"/>
                </a:solidFill>
                <a:latin typeface="Calibri"/>
              </a:rPr>
              <a:t>KPI raporu: zaman kazanımı, kalite, onay istatistikleri. Yaygınlaştırma kararı ve yol haritası.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62232"/>
                </a:solidFill>
                <a:latin typeface="Calibri"/>
              </a:rPr>
              <a:t>Toplam ~6–9 hafta içinde ölçülmüş sonuçlarla karar noktasına gelirsiniz.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62232"/>
                </a:solidFill>
                <a:latin typeface="Calibri"/>
              </a:rPr>
              <a:t>Pilot kapsamı dar tutulur: 1–2 senaryo, seçili ekip, net başarı kriterleri.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9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9C96"/>
                </a:solidFill>
                <a:latin typeface="Calibri"/>
              </a:rPr>
              <a:t>SONRAKİ ADIMLAR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2232"/>
                </a:solidFill>
                <a:latin typeface="Calibri"/>
              </a:rPr>
              <a:t>Kimya sektöründeki bilgi işinizi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62232"/>
                </a:solidFill>
                <a:latin typeface="Calibri"/>
              </a:rPr>
              <a:t>birlikte otomatikleştirelim.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0E9C96"/>
                </a:solidFill>
                <a:latin typeface="Calibri"/>
              </a:rPr>
              <a:t>▸  </a:t>
            </a:r>
            <a:r>
              <a:rPr sz="1700" b="1">
                <a:solidFill>
                  <a:srgbClr val="162232"/>
                </a:solidFill>
                <a:latin typeface="Calibri"/>
              </a:rPr>
              <a:t>1. Keşif toplantısı (60 dk): </a:t>
            </a:r>
            <a:r>
              <a:rPr sz="1700">
                <a:solidFill>
                  <a:srgbClr val="576478"/>
                </a:solidFill>
                <a:latin typeface="Calibri"/>
              </a:rPr>
              <a:t>öncelikli süreçlerinizi ve ağrı noktalarını birlikte haritalayalım.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0E9C96"/>
                </a:solidFill>
                <a:latin typeface="Calibri"/>
              </a:rPr>
              <a:t>▸  </a:t>
            </a:r>
            <a:r>
              <a:rPr sz="1700" b="1">
                <a:solidFill>
                  <a:srgbClr val="162232"/>
                </a:solidFill>
                <a:latin typeface="Calibri"/>
              </a:rPr>
              <a:t>2. Canlı demo: </a:t>
            </a:r>
            <a:r>
              <a:rPr sz="1700">
                <a:solidFill>
                  <a:srgbClr val="576478"/>
                </a:solidFill>
                <a:latin typeface="Calibri"/>
              </a:rPr>
              <a:t>tedarik otomasyonu ve pazar brifi akışlarını gerçek portal üzerinde görün.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700" b="1">
                <a:solidFill>
                  <a:srgbClr val="0E9C96"/>
                </a:solidFill>
                <a:latin typeface="Calibri"/>
              </a:rPr>
              <a:t>▸  </a:t>
            </a:r>
            <a:r>
              <a:rPr sz="1700" b="1">
                <a:solidFill>
                  <a:srgbClr val="162232"/>
                </a:solidFill>
                <a:latin typeface="Calibri"/>
              </a:rPr>
              <a:t>3. Pilot teklifi: </a:t>
            </a:r>
            <a:r>
              <a:rPr sz="1700">
                <a:solidFill>
                  <a:srgbClr val="576478"/>
                </a:solidFill>
                <a:latin typeface="Calibri"/>
              </a:rPr>
              <a:t>kapsam, başarı kriterleri ve takvimi içeren pilot planını 1 hafta içinde sunalım.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394960"/>
            <a:ext cx="105156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59612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2232"/>
                </a:solidFill>
                <a:latin typeface="Calibri"/>
              </a:rPr>
              <a:t>AgentArmy  ·  Kurumsal Yapay Zeka Ajan Platformu  ·  kadirogreten@hotmail.com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